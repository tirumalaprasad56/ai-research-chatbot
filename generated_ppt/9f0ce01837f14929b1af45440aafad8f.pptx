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09728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000" b="1">
                <a:solidFill>
                  <a:srgbClr val="003366"/>
                </a:solidFill>
              </a:defRPr>
            </a:pPr>
            <a:r>
              <a:t>block chain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9144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646464"/>
                </a:solidFill>
              </a:defRPr>
            </a:pPr>
            <a:r>
              <a:t>Generated by AI Research Assistant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004C99"/>
          </a:solidFill>
          <a:ln>
            <a:solidFill>
              <a:srgbClr val="004C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400">
                <a:solidFill>
                  <a:srgbClr val="FFFFFF"/>
                </a:solidFill>
              </a:defRPr>
            </a:pPr>
            <a:r>
              <a:t>Introduction to Blockchain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241280" cy="4754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282828"/>
                </a:solidFill>
              </a:defRPr>
            </a:pPr>
            <a:r>
              <a:t>A decentralized, digital ledger that records transactions across a network of computers</a:t>
            </a:r>
          </a:p>
          <a:p>
            <a:pPr>
              <a:defRPr sz="2000">
                <a:solidFill>
                  <a:srgbClr val="282828"/>
                </a:solidFill>
              </a:defRPr>
            </a:pPr>
            <a:r>
              <a:t>Allows for secure, transparent, and tamperproof data storage and exchange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2179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/>
            </a:pPr>
            <a: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004C99"/>
          </a:solidFill>
          <a:ln>
            <a:solidFill>
              <a:srgbClr val="004C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400">
                <a:solidFill>
                  <a:srgbClr val="FFFFFF"/>
                </a:solidFill>
              </a:defRPr>
            </a:pPr>
            <a:r>
              <a:t>Key Components of Blockchain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241280" cy="4754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282828"/>
                </a:solidFill>
              </a:defRPr>
            </a:pPr>
            <a:r>
              <a:t>Blocks: contain a set of transactions, a unique code, and a reference to the previous block</a:t>
            </a:r>
          </a:p>
          <a:p>
            <a:pPr>
              <a:defRPr sz="2000">
                <a:solidFill>
                  <a:srgbClr val="282828"/>
                </a:solidFill>
              </a:defRPr>
            </a:pPr>
            <a:r>
              <a:t>Chain: a sequence of blocks, each linked to the previous one through a unique code</a:t>
            </a:r>
          </a:p>
          <a:p>
            <a:pPr>
              <a:defRPr sz="2000">
                <a:solidFill>
                  <a:srgbClr val="282828"/>
                </a:solidFill>
              </a:defRPr>
            </a:pPr>
            <a:r>
              <a:t>Network: a decentralized system of computers that verify and add new blocks to the chain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2179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/>
            </a:pPr>
            <a: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004C99"/>
          </a:solidFill>
          <a:ln>
            <a:solidFill>
              <a:srgbClr val="004C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400">
                <a:solidFill>
                  <a:srgbClr val="FFFFFF"/>
                </a:solidFill>
              </a:defRPr>
            </a:pPr>
            <a:r>
              <a:t>How Blockchain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241280" cy="4754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282828"/>
                </a:solidFill>
              </a:defRPr>
            </a:pPr>
            <a:r>
              <a:t>A new transaction is broadcast to the network of computers</a:t>
            </a:r>
          </a:p>
          <a:p>
            <a:pPr>
              <a:defRPr sz="2000">
                <a:solidFill>
                  <a:srgbClr val="282828"/>
                </a:solidFill>
              </a:defRPr>
            </a:pPr>
            <a:r>
              <a:t>The transaction is verified by special nodes called miners, using complex algorithms</a:t>
            </a:r>
          </a:p>
          <a:p>
            <a:pPr>
              <a:defRPr sz="2000">
                <a:solidFill>
                  <a:srgbClr val="282828"/>
                </a:solidFill>
              </a:defRPr>
            </a:pPr>
            <a:r>
              <a:t>A new block is created, containing the verified transaction, and added to the chain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2179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/>
            </a:pPr>
            <a: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004C99"/>
          </a:solidFill>
          <a:ln>
            <a:solidFill>
              <a:srgbClr val="004C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400">
                <a:solidFill>
                  <a:srgbClr val="FFFFFF"/>
                </a:solidFill>
              </a:defRPr>
            </a:pPr>
            <a:r>
              <a:t>Benefits of Blockchain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241280" cy="4754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282828"/>
                </a:solidFill>
              </a:defRPr>
            </a:pPr>
            <a:r>
              <a:t>Security: through the use of advanced cryptography and a decentralized network</a:t>
            </a:r>
          </a:p>
          <a:p>
            <a:pPr>
              <a:defRPr sz="2000">
                <a:solidFill>
                  <a:srgbClr val="282828"/>
                </a:solidFill>
              </a:defRPr>
            </a:pPr>
            <a:r>
              <a:t>Transparency: all transactions are recorded publicly and can be tracked</a:t>
            </a:r>
          </a:p>
          <a:p>
            <a:pPr>
              <a:defRPr sz="2000">
                <a:solidFill>
                  <a:srgbClr val="282828"/>
                </a:solidFill>
              </a:defRPr>
            </a:pPr>
            <a:r>
              <a:t>Immutability: the blockchain is tamperproof, and transactions cannot be altered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2179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/>
            </a:pPr>
            <a: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004C99"/>
          </a:solidFill>
          <a:ln>
            <a:solidFill>
              <a:srgbClr val="004C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400">
                <a:solidFill>
                  <a:srgbClr val="FFFFFF"/>
                </a:solidFill>
              </a:defRPr>
            </a:pPr>
            <a:r>
              <a:t>Types of Blockchain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241280" cy="4754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282828"/>
                </a:solidFill>
              </a:defRPr>
            </a:pPr>
            <a:r>
              <a:t>Public Blockchain: open to anyone, and allows for anonymous transactions (e.g. Bitcoin)</a:t>
            </a:r>
          </a:p>
          <a:p>
            <a:pPr>
              <a:defRPr sz="2000">
                <a:solidFill>
                  <a:srgbClr val="282828"/>
                </a:solidFill>
              </a:defRPr>
            </a:pPr>
            <a:r>
              <a:t>Private Blockchain: restricted to a specific group, and requires permission to join (e.g. enterprise networks)</a:t>
            </a:r>
          </a:p>
          <a:p>
            <a:pPr>
              <a:defRPr sz="2000">
                <a:solidFill>
                  <a:srgbClr val="282828"/>
                </a:solidFill>
              </a:defRPr>
            </a:pPr>
            <a:r>
              <a:t>Consortium Blockchain: a hybrid of public and private blockchains, with a mix of permissioned and permissionless access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2179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/>
            </a:pPr>
            <a: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004C99"/>
          </a:solidFill>
          <a:ln>
            <a:solidFill>
              <a:srgbClr val="004C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400">
                <a:solidFill>
                  <a:srgbClr val="FFFFFF"/>
                </a:solidFill>
              </a:defRPr>
            </a:pPr>
            <a:r>
              <a:t>Blockchain Applications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241280" cy="4754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282828"/>
                </a:solidFill>
              </a:defRPr>
            </a:pPr>
            <a:r>
              <a:t>Cryptocurrencies (e.g. Bitcoin, Ethereum)</a:t>
            </a:r>
          </a:p>
          <a:p>
            <a:pPr>
              <a:defRPr sz="2000">
                <a:solidFill>
                  <a:srgbClr val="282828"/>
                </a:solidFill>
              </a:defRPr>
            </a:pPr>
            <a:r>
              <a:t>Supply Chain Management (e.g. tracking goods, verifying authenticity)</a:t>
            </a:r>
          </a:p>
          <a:p>
            <a:pPr>
              <a:defRPr sz="2000">
                <a:solidFill>
                  <a:srgbClr val="282828"/>
                </a:solidFill>
              </a:defRPr>
            </a:pPr>
            <a:r>
              <a:t>Smart Contracts (e.g. automated payment systems, voting systems)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2179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/>
            </a:pPr>
            <a: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004C99"/>
          </a:solidFill>
          <a:ln>
            <a:solidFill>
              <a:srgbClr val="004C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400">
                <a:solidFill>
                  <a:srgbClr val="FFFFFF"/>
                </a:solidFill>
              </a:defRPr>
            </a:pPr>
            <a:r>
              <a:t>Challenges and Limitations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241280" cy="4754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282828"/>
                </a:solidFill>
              </a:defRPr>
            </a:pPr>
            <a:r>
              <a:t>Scalability: the number of transactions that can be processed per second is limited</a:t>
            </a:r>
          </a:p>
          <a:p>
            <a:pPr>
              <a:defRPr sz="2000">
                <a:solidFill>
                  <a:srgbClr val="282828"/>
                </a:solidFill>
              </a:defRPr>
            </a:pPr>
            <a:r>
              <a:t>Energy Consumption: the process of mining new blocks requires significant computational power and energy</a:t>
            </a:r>
          </a:p>
          <a:p>
            <a:pPr>
              <a:defRPr sz="2000">
                <a:solidFill>
                  <a:srgbClr val="282828"/>
                </a:solidFill>
              </a:defRPr>
            </a:pPr>
            <a:r>
              <a:t>Regulation: the lack of clear regulations and standards for blockchain technology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2179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/>
            </a:pPr>
            <a: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004C99"/>
          </a:solidFill>
          <a:ln>
            <a:solidFill>
              <a:srgbClr val="004C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400">
                <a:solidFill>
                  <a:srgbClr val="FFFFFF"/>
                </a:solidFill>
              </a:defRPr>
            </a:pPr>
            <a:r>
              <a:t>Future of Blockchain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241280" cy="4754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282828"/>
                </a:solidFill>
              </a:defRPr>
            </a:pPr>
            <a:r>
              <a:t>Increased adoption in various industries (e.g. finance, healthcare, government)</a:t>
            </a:r>
          </a:p>
          <a:p>
            <a:pPr>
              <a:defRPr sz="2000">
                <a:solidFill>
                  <a:srgbClr val="282828"/>
                </a:solidFill>
              </a:defRPr>
            </a:pPr>
            <a:r>
              <a:t>Development of new technologies and applications (e.g. blockchainbased AI, IoT)</a:t>
            </a:r>
          </a:p>
          <a:p>
            <a:pPr>
              <a:defRPr sz="2000">
                <a:solidFill>
                  <a:srgbClr val="282828"/>
                </a:solidFill>
              </a:defRPr>
            </a:pPr>
            <a:r>
              <a:t>Improved scalability, security, and usability of blockchain systems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2179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/>
            </a:pPr>
            <a:r>
              <a:t>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